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0" r:id="rId4"/>
    <p:sldId id="261" r:id="rId5"/>
    <p:sldId id="257" r:id="rId6"/>
    <p:sldId id="2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81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E44CEE-D24B-4F98-80F4-49AD3C49545D}"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6E7466C5-42CD-4079-A311-713AE1968D1B}">
      <dgm:prSet/>
      <dgm:spPr/>
      <dgm:t>
        <a:bodyPr/>
        <a:lstStyle/>
        <a:p>
          <a:r>
            <a:rPr lang="en-GB" dirty="0"/>
            <a:t>The colours used for the graph in slide 4 are colour-blind friendly</a:t>
          </a:r>
          <a:endParaRPr lang="en-US" dirty="0"/>
        </a:p>
      </dgm:t>
    </dgm:pt>
    <dgm:pt modelId="{1D99A241-E64A-4BA1-9C12-AC6E1BC8DE9B}" type="parTrans" cxnId="{06C1DDF4-ACA9-4F06-852D-9B46BECFD24F}">
      <dgm:prSet/>
      <dgm:spPr/>
      <dgm:t>
        <a:bodyPr/>
        <a:lstStyle/>
        <a:p>
          <a:endParaRPr lang="en-US"/>
        </a:p>
      </dgm:t>
    </dgm:pt>
    <dgm:pt modelId="{4894DD57-735C-4A05-A5E2-D6868AD0CC6B}" type="sibTrans" cxnId="{06C1DDF4-ACA9-4F06-852D-9B46BECFD24F}">
      <dgm:prSet/>
      <dgm:spPr/>
      <dgm:t>
        <a:bodyPr/>
        <a:lstStyle/>
        <a:p>
          <a:endParaRPr lang="en-US"/>
        </a:p>
      </dgm:t>
    </dgm:pt>
    <dgm:pt modelId="{3473BFB7-9800-484E-92F3-B19479A0E101}">
      <dgm:prSet/>
      <dgm:spPr/>
      <dgm:t>
        <a:bodyPr/>
        <a:lstStyle/>
        <a:p>
          <a:r>
            <a:rPr lang="en-GB" dirty="0"/>
            <a:t>The colour scale used is the </a:t>
          </a:r>
          <a:r>
            <a:rPr lang="en-GB" dirty="0" err="1"/>
            <a:t>viridis</a:t>
          </a:r>
          <a:r>
            <a:rPr lang="en-GB" dirty="0"/>
            <a:t> scale from the </a:t>
          </a:r>
          <a:r>
            <a:rPr lang="en-GB" dirty="0" err="1"/>
            <a:t>matplotlib</a:t>
          </a:r>
          <a:r>
            <a:rPr lang="en-GB" dirty="0"/>
            <a:t> python library. </a:t>
          </a:r>
          <a:endParaRPr lang="en-US" dirty="0"/>
        </a:p>
      </dgm:t>
    </dgm:pt>
    <dgm:pt modelId="{25EC2674-053D-408D-B20E-3A9EBC8A2E70}" type="parTrans" cxnId="{3E24D1E4-0CB4-459C-AE67-8E4A60D017EC}">
      <dgm:prSet/>
      <dgm:spPr/>
      <dgm:t>
        <a:bodyPr/>
        <a:lstStyle/>
        <a:p>
          <a:endParaRPr lang="en-US"/>
        </a:p>
      </dgm:t>
    </dgm:pt>
    <dgm:pt modelId="{73C9BC37-F32F-45EA-8DD4-1E17792D16AD}" type="sibTrans" cxnId="{3E24D1E4-0CB4-459C-AE67-8E4A60D017EC}">
      <dgm:prSet/>
      <dgm:spPr/>
      <dgm:t>
        <a:bodyPr/>
        <a:lstStyle/>
        <a:p>
          <a:endParaRPr lang="en-US"/>
        </a:p>
      </dgm:t>
    </dgm:pt>
    <dgm:pt modelId="{D656B138-B8F6-43B4-905C-A20513F92EC0}">
      <dgm:prSet/>
      <dgm:spPr/>
      <dgm:t>
        <a:bodyPr/>
        <a:lstStyle/>
        <a:p>
          <a:r>
            <a:rPr lang="en-GB" dirty="0"/>
            <a:t>It is also clear from the graph that distance to Dublin and compute time have a linear relationship which would make sense.</a:t>
          </a:r>
          <a:endParaRPr lang="en-US" dirty="0"/>
        </a:p>
      </dgm:t>
    </dgm:pt>
    <dgm:pt modelId="{32A26F2B-8059-4097-ACD5-D7E0273A1681}" type="parTrans" cxnId="{25BF5F03-8F91-4AE2-B71B-D39CB0C591FE}">
      <dgm:prSet/>
      <dgm:spPr/>
      <dgm:t>
        <a:bodyPr/>
        <a:lstStyle/>
        <a:p>
          <a:endParaRPr lang="en-US"/>
        </a:p>
      </dgm:t>
    </dgm:pt>
    <dgm:pt modelId="{39E1146C-359E-486F-82D2-EDBC79F5CE01}" type="sibTrans" cxnId="{25BF5F03-8F91-4AE2-B71B-D39CB0C591FE}">
      <dgm:prSet/>
      <dgm:spPr/>
      <dgm:t>
        <a:bodyPr/>
        <a:lstStyle/>
        <a:p>
          <a:endParaRPr lang="en-US"/>
        </a:p>
      </dgm:t>
    </dgm:pt>
    <dgm:pt modelId="{A7ACCEA2-168C-43FB-8B55-31A1977A5BE3}">
      <dgm:prSet/>
      <dgm:spPr/>
      <dgm:t>
        <a:bodyPr/>
        <a:lstStyle/>
        <a:p>
          <a:r>
            <a:rPr lang="en-GB" dirty="0"/>
            <a:t>It can also be seen from the graphs presented above that road travel is on average faster than public transport in Ireland. </a:t>
          </a:r>
          <a:endParaRPr lang="en-US" dirty="0"/>
        </a:p>
      </dgm:t>
    </dgm:pt>
    <dgm:pt modelId="{841A2CA4-D934-419F-9186-1433049A92F2}" type="parTrans" cxnId="{C25B78E9-AC6A-4CB0-9202-5A370B1928A8}">
      <dgm:prSet/>
      <dgm:spPr/>
      <dgm:t>
        <a:bodyPr/>
        <a:lstStyle/>
        <a:p>
          <a:endParaRPr lang="en-IE"/>
        </a:p>
      </dgm:t>
    </dgm:pt>
    <dgm:pt modelId="{0BFDBA98-F7E4-43C2-9776-0DD79659FFE3}" type="sibTrans" cxnId="{C25B78E9-AC6A-4CB0-9202-5A370B1928A8}">
      <dgm:prSet/>
      <dgm:spPr/>
      <dgm:t>
        <a:bodyPr/>
        <a:lstStyle/>
        <a:p>
          <a:endParaRPr lang="en-IE"/>
        </a:p>
      </dgm:t>
    </dgm:pt>
    <dgm:pt modelId="{9259A8D5-01ED-423B-A78A-66AC077D5DC8}" type="pres">
      <dgm:prSet presAssocID="{A6E44CEE-D24B-4F98-80F4-49AD3C49545D}" presName="linear" presStyleCnt="0">
        <dgm:presLayoutVars>
          <dgm:animLvl val="lvl"/>
          <dgm:resizeHandles val="exact"/>
        </dgm:presLayoutVars>
      </dgm:prSet>
      <dgm:spPr/>
      <dgm:t>
        <a:bodyPr/>
        <a:lstStyle/>
        <a:p>
          <a:endParaRPr lang="en-IN"/>
        </a:p>
      </dgm:t>
    </dgm:pt>
    <dgm:pt modelId="{4B2A1A77-CF2F-40C5-96DD-2A748ACE4C6D}" type="pres">
      <dgm:prSet presAssocID="{6E7466C5-42CD-4079-A311-713AE1968D1B}" presName="parentText" presStyleLbl="node1" presStyleIdx="0" presStyleCnt="4">
        <dgm:presLayoutVars>
          <dgm:chMax val="0"/>
          <dgm:bulletEnabled val="1"/>
        </dgm:presLayoutVars>
      </dgm:prSet>
      <dgm:spPr/>
      <dgm:t>
        <a:bodyPr/>
        <a:lstStyle/>
        <a:p>
          <a:endParaRPr lang="en-IN"/>
        </a:p>
      </dgm:t>
    </dgm:pt>
    <dgm:pt modelId="{4B661858-AE40-4729-8DB7-84453AF08EB1}" type="pres">
      <dgm:prSet presAssocID="{4894DD57-735C-4A05-A5E2-D6868AD0CC6B}" presName="spacer" presStyleCnt="0"/>
      <dgm:spPr/>
    </dgm:pt>
    <dgm:pt modelId="{1586A77D-8BA0-4BC3-B652-889DB5F93991}" type="pres">
      <dgm:prSet presAssocID="{3473BFB7-9800-484E-92F3-B19479A0E101}" presName="parentText" presStyleLbl="node1" presStyleIdx="1" presStyleCnt="4">
        <dgm:presLayoutVars>
          <dgm:chMax val="0"/>
          <dgm:bulletEnabled val="1"/>
        </dgm:presLayoutVars>
      </dgm:prSet>
      <dgm:spPr/>
      <dgm:t>
        <a:bodyPr/>
        <a:lstStyle/>
        <a:p>
          <a:endParaRPr lang="en-IN"/>
        </a:p>
      </dgm:t>
    </dgm:pt>
    <dgm:pt modelId="{9BC9CDDA-9A5F-4014-B338-958F3E87A434}" type="pres">
      <dgm:prSet presAssocID="{73C9BC37-F32F-45EA-8DD4-1E17792D16AD}" presName="spacer" presStyleCnt="0"/>
      <dgm:spPr/>
    </dgm:pt>
    <dgm:pt modelId="{187DCBF8-3931-4289-823A-48AAD7C7051A}" type="pres">
      <dgm:prSet presAssocID="{D656B138-B8F6-43B4-905C-A20513F92EC0}" presName="parentText" presStyleLbl="node1" presStyleIdx="2" presStyleCnt="4">
        <dgm:presLayoutVars>
          <dgm:chMax val="0"/>
          <dgm:bulletEnabled val="1"/>
        </dgm:presLayoutVars>
      </dgm:prSet>
      <dgm:spPr/>
      <dgm:t>
        <a:bodyPr/>
        <a:lstStyle/>
        <a:p>
          <a:endParaRPr lang="en-IN"/>
        </a:p>
      </dgm:t>
    </dgm:pt>
    <dgm:pt modelId="{5CA4CDD7-7632-4BCD-A77B-2AEFE5C7CBEC}" type="pres">
      <dgm:prSet presAssocID="{39E1146C-359E-486F-82D2-EDBC79F5CE01}" presName="spacer" presStyleCnt="0"/>
      <dgm:spPr/>
    </dgm:pt>
    <dgm:pt modelId="{548E7660-3728-487F-826B-99A7C11D7CC2}" type="pres">
      <dgm:prSet presAssocID="{A7ACCEA2-168C-43FB-8B55-31A1977A5BE3}" presName="parentText" presStyleLbl="node1" presStyleIdx="3" presStyleCnt="4">
        <dgm:presLayoutVars>
          <dgm:chMax val="0"/>
          <dgm:bulletEnabled val="1"/>
        </dgm:presLayoutVars>
      </dgm:prSet>
      <dgm:spPr/>
      <dgm:t>
        <a:bodyPr/>
        <a:lstStyle/>
        <a:p>
          <a:endParaRPr lang="en-IN"/>
        </a:p>
      </dgm:t>
    </dgm:pt>
  </dgm:ptLst>
  <dgm:cxnLst>
    <dgm:cxn modelId="{41FFEBED-0209-40E1-8359-AE7C38224A9D}" type="presOf" srcId="{A7ACCEA2-168C-43FB-8B55-31A1977A5BE3}" destId="{548E7660-3728-487F-826B-99A7C11D7CC2}" srcOrd="0" destOrd="0" presId="urn:microsoft.com/office/officeart/2005/8/layout/vList2"/>
    <dgm:cxn modelId="{C25B78E9-AC6A-4CB0-9202-5A370B1928A8}" srcId="{A6E44CEE-D24B-4F98-80F4-49AD3C49545D}" destId="{A7ACCEA2-168C-43FB-8B55-31A1977A5BE3}" srcOrd="3" destOrd="0" parTransId="{841A2CA4-D934-419F-9186-1433049A92F2}" sibTransId="{0BFDBA98-F7E4-43C2-9776-0DD79659FFE3}"/>
    <dgm:cxn modelId="{06C1DDF4-ACA9-4F06-852D-9B46BECFD24F}" srcId="{A6E44CEE-D24B-4F98-80F4-49AD3C49545D}" destId="{6E7466C5-42CD-4079-A311-713AE1968D1B}" srcOrd="0" destOrd="0" parTransId="{1D99A241-E64A-4BA1-9C12-AC6E1BC8DE9B}" sibTransId="{4894DD57-735C-4A05-A5E2-D6868AD0CC6B}"/>
    <dgm:cxn modelId="{732B7961-B89B-474D-96C6-1E8081F7FC86}" type="presOf" srcId="{6E7466C5-42CD-4079-A311-713AE1968D1B}" destId="{4B2A1A77-CF2F-40C5-96DD-2A748ACE4C6D}" srcOrd="0" destOrd="0" presId="urn:microsoft.com/office/officeart/2005/8/layout/vList2"/>
    <dgm:cxn modelId="{3E24D1E4-0CB4-459C-AE67-8E4A60D017EC}" srcId="{A6E44CEE-D24B-4F98-80F4-49AD3C49545D}" destId="{3473BFB7-9800-484E-92F3-B19479A0E101}" srcOrd="1" destOrd="0" parTransId="{25EC2674-053D-408D-B20E-3A9EBC8A2E70}" sibTransId="{73C9BC37-F32F-45EA-8DD4-1E17792D16AD}"/>
    <dgm:cxn modelId="{25BF5F03-8F91-4AE2-B71B-D39CB0C591FE}" srcId="{A6E44CEE-D24B-4F98-80F4-49AD3C49545D}" destId="{D656B138-B8F6-43B4-905C-A20513F92EC0}" srcOrd="2" destOrd="0" parTransId="{32A26F2B-8059-4097-ACD5-D7E0273A1681}" sibTransId="{39E1146C-359E-486F-82D2-EDBC79F5CE01}"/>
    <dgm:cxn modelId="{C6EF1C17-3EEB-40F9-92A5-9F1A437A73FA}" type="presOf" srcId="{3473BFB7-9800-484E-92F3-B19479A0E101}" destId="{1586A77D-8BA0-4BC3-B652-889DB5F93991}" srcOrd="0" destOrd="0" presId="urn:microsoft.com/office/officeart/2005/8/layout/vList2"/>
    <dgm:cxn modelId="{4D5C7049-0E28-489B-A203-7330D1BFC845}" type="presOf" srcId="{A6E44CEE-D24B-4F98-80F4-49AD3C49545D}" destId="{9259A8D5-01ED-423B-A78A-66AC077D5DC8}" srcOrd="0" destOrd="0" presId="urn:microsoft.com/office/officeart/2005/8/layout/vList2"/>
    <dgm:cxn modelId="{9B495FB7-FA2C-4FF6-A7D4-8D5563885D23}" type="presOf" srcId="{D656B138-B8F6-43B4-905C-A20513F92EC0}" destId="{187DCBF8-3931-4289-823A-48AAD7C7051A}" srcOrd="0" destOrd="0" presId="urn:microsoft.com/office/officeart/2005/8/layout/vList2"/>
    <dgm:cxn modelId="{01DD99E4-0995-4C3F-8552-B17ACBAC8365}" type="presParOf" srcId="{9259A8D5-01ED-423B-A78A-66AC077D5DC8}" destId="{4B2A1A77-CF2F-40C5-96DD-2A748ACE4C6D}" srcOrd="0" destOrd="0" presId="urn:microsoft.com/office/officeart/2005/8/layout/vList2"/>
    <dgm:cxn modelId="{54A2E7AC-E8C8-472F-9212-5BDEBDF5BF4A}" type="presParOf" srcId="{9259A8D5-01ED-423B-A78A-66AC077D5DC8}" destId="{4B661858-AE40-4729-8DB7-84453AF08EB1}" srcOrd="1" destOrd="0" presId="urn:microsoft.com/office/officeart/2005/8/layout/vList2"/>
    <dgm:cxn modelId="{5C6629D2-8D1D-4533-87AF-03A63B9172EE}" type="presParOf" srcId="{9259A8D5-01ED-423B-A78A-66AC077D5DC8}" destId="{1586A77D-8BA0-4BC3-B652-889DB5F93991}" srcOrd="2" destOrd="0" presId="urn:microsoft.com/office/officeart/2005/8/layout/vList2"/>
    <dgm:cxn modelId="{ADC8402D-583F-41BF-9C66-175DC9E466F6}" type="presParOf" srcId="{9259A8D5-01ED-423B-A78A-66AC077D5DC8}" destId="{9BC9CDDA-9A5F-4014-B338-958F3E87A434}" srcOrd="3" destOrd="0" presId="urn:microsoft.com/office/officeart/2005/8/layout/vList2"/>
    <dgm:cxn modelId="{888A8A7C-8170-4BEA-8B55-42C669116F45}" type="presParOf" srcId="{9259A8D5-01ED-423B-A78A-66AC077D5DC8}" destId="{187DCBF8-3931-4289-823A-48AAD7C7051A}" srcOrd="4" destOrd="0" presId="urn:microsoft.com/office/officeart/2005/8/layout/vList2"/>
    <dgm:cxn modelId="{8C35835F-ED67-488F-842A-E494F8FBC7FE}" type="presParOf" srcId="{9259A8D5-01ED-423B-A78A-66AC077D5DC8}" destId="{5CA4CDD7-7632-4BCD-A77B-2AEFE5C7CBEC}" srcOrd="5" destOrd="0" presId="urn:microsoft.com/office/officeart/2005/8/layout/vList2"/>
    <dgm:cxn modelId="{01127224-A32D-4DD8-9087-447A5E20EA72}" type="presParOf" srcId="{9259A8D5-01ED-423B-A78A-66AC077D5DC8}" destId="{548E7660-3728-487F-826B-99A7C11D7CC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2A1A77-CF2F-40C5-96DD-2A748ACE4C6D}">
      <dsp:nvSpPr>
        <dsp:cNvPr id="0" name=""/>
        <dsp:cNvSpPr/>
      </dsp:nvSpPr>
      <dsp:spPr>
        <a:xfrm>
          <a:off x="0" y="170532"/>
          <a:ext cx="6666833" cy="1230693"/>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GB" sz="2200" kern="1200" dirty="0"/>
            <a:t>The colours used for the graph in slide 4 are colour-blind friendly</a:t>
          </a:r>
          <a:endParaRPr lang="en-US" sz="2200" kern="1200" dirty="0"/>
        </a:p>
      </dsp:txBody>
      <dsp:txXfrm>
        <a:off x="60077" y="230609"/>
        <a:ext cx="6546679" cy="1110539"/>
      </dsp:txXfrm>
    </dsp:sp>
    <dsp:sp modelId="{1586A77D-8BA0-4BC3-B652-889DB5F93991}">
      <dsp:nvSpPr>
        <dsp:cNvPr id="0" name=""/>
        <dsp:cNvSpPr/>
      </dsp:nvSpPr>
      <dsp:spPr>
        <a:xfrm>
          <a:off x="0" y="1464586"/>
          <a:ext cx="6666833" cy="1230693"/>
        </a:xfrm>
        <a:prstGeom prst="roundRect">
          <a:avLst/>
        </a:prstGeom>
        <a:gradFill rotWithShape="0">
          <a:gsLst>
            <a:gs pos="0">
              <a:schemeClr val="accent2">
                <a:hueOff val="151055"/>
                <a:satOff val="-15998"/>
                <a:lumOff val="-392"/>
                <a:alphaOff val="0"/>
                <a:tint val="96000"/>
                <a:lumMod val="104000"/>
              </a:schemeClr>
            </a:gs>
            <a:gs pos="100000">
              <a:schemeClr val="accent2">
                <a:hueOff val="151055"/>
                <a:satOff val="-15998"/>
                <a:lumOff val="-392"/>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GB" sz="2200" kern="1200" dirty="0"/>
            <a:t>The colour scale used is the </a:t>
          </a:r>
          <a:r>
            <a:rPr lang="en-GB" sz="2200" kern="1200" dirty="0" err="1"/>
            <a:t>viridis</a:t>
          </a:r>
          <a:r>
            <a:rPr lang="en-GB" sz="2200" kern="1200" dirty="0"/>
            <a:t> scale from the </a:t>
          </a:r>
          <a:r>
            <a:rPr lang="en-GB" sz="2200" kern="1200" dirty="0" err="1"/>
            <a:t>matplotlib</a:t>
          </a:r>
          <a:r>
            <a:rPr lang="en-GB" sz="2200" kern="1200" dirty="0"/>
            <a:t> python library. </a:t>
          </a:r>
          <a:endParaRPr lang="en-US" sz="2200" kern="1200" dirty="0"/>
        </a:p>
      </dsp:txBody>
      <dsp:txXfrm>
        <a:off x="60077" y="1524663"/>
        <a:ext cx="6546679" cy="1110539"/>
      </dsp:txXfrm>
    </dsp:sp>
    <dsp:sp modelId="{187DCBF8-3931-4289-823A-48AAD7C7051A}">
      <dsp:nvSpPr>
        <dsp:cNvPr id="0" name=""/>
        <dsp:cNvSpPr/>
      </dsp:nvSpPr>
      <dsp:spPr>
        <a:xfrm>
          <a:off x="0" y="2758639"/>
          <a:ext cx="6666833" cy="1230693"/>
        </a:xfrm>
        <a:prstGeom prst="roundRect">
          <a:avLst/>
        </a:prstGeom>
        <a:gradFill rotWithShape="0">
          <a:gsLst>
            <a:gs pos="0">
              <a:schemeClr val="accent2">
                <a:hueOff val="302110"/>
                <a:satOff val="-31995"/>
                <a:lumOff val="-784"/>
                <a:alphaOff val="0"/>
                <a:tint val="96000"/>
                <a:lumMod val="104000"/>
              </a:schemeClr>
            </a:gs>
            <a:gs pos="100000">
              <a:schemeClr val="accent2">
                <a:hueOff val="302110"/>
                <a:satOff val="-31995"/>
                <a:lumOff val="-784"/>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GB" sz="2200" kern="1200" dirty="0"/>
            <a:t>It is also clear from the graph that distance to Dublin and compute time have a linear relationship which would make sense.</a:t>
          </a:r>
          <a:endParaRPr lang="en-US" sz="2200" kern="1200" dirty="0"/>
        </a:p>
      </dsp:txBody>
      <dsp:txXfrm>
        <a:off x="60077" y="2818716"/>
        <a:ext cx="6546679" cy="1110539"/>
      </dsp:txXfrm>
    </dsp:sp>
    <dsp:sp modelId="{548E7660-3728-487F-826B-99A7C11D7CC2}">
      <dsp:nvSpPr>
        <dsp:cNvPr id="0" name=""/>
        <dsp:cNvSpPr/>
      </dsp:nvSpPr>
      <dsp:spPr>
        <a:xfrm>
          <a:off x="0" y="4052693"/>
          <a:ext cx="6666833" cy="1230693"/>
        </a:xfrm>
        <a:prstGeom prst="roundRect">
          <a:avLst/>
        </a:prstGeom>
        <a:gradFill rotWithShape="0">
          <a:gsLst>
            <a:gs pos="0">
              <a:schemeClr val="accent2">
                <a:hueOff val="453165"/>
                <a:satOff val="-47993"/>
                <a:lumOff val="-1176"/>
                <a:alphaOff val="0"/>
                <a:tint val="96000"/>
                <a:lumMod val="104000"/>
              </a:schemeClr>
            </a:gs>
            <a:gs pos="100000">
              <a:schemeClr val="accent2">
                <a:hueOff val="453165"/>
                <a:satOff val="-47993"/>
                <a:lumOff val="-1176"/>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GB" sz="2200" kern="1200" dirty="0"/>
            <a:t>It can also be seen from the graphs presented above that road travel is on average faster than public transport in Ireland. </a:t>
          </a:r>
          <a:endParaRPr lang="en-US" sz="2200" kern="1200" dirty="0"/>
        </a:p>
      </dsp:txBody>
      <dsp:txXfrm>
        <a:off x="60077" y="4112770"/>
        <a:ext cx="6546679" cy="111053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96190AB-7EDE-4694-B66D-81330F289906}" type="datetimeFigureOut">
              <a:rPr lang="en-IE" smtClean="0"/>
              <a:t>24/02/2025</a:t>
            </a:fld>
            <a:endParaRPr lang="en-IE"/>
          </a:p>
        </p:txBody>
      </p:sp>
      <p:sp>
        <p:nvSpPr>
          <p:cNvPr id="5" name="Footer Placeholder 4"/>
          <p:cNvSpPr>
            <a:spLocks noGrp="1"/>
          </p:cNvSpPr>
          <p:nvPr>
            <p:ph type="ftr" sz="quarter" idx="11"/>
          </p:nvPr>
        </p:nvSpPr>
        <p:spPr/>
        <p:txBody>
          <a:bodyPr/>
          <a:lstStyle/>
          <a:p>
            <a:endParaRPr lang="en-IE"/>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2839169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6190AB-7EDE-4694-B66D-81330F289906}" type="datetimeFigureOut">
              <a:rPr lang="en-IE" smtClean="0"/>
              <a:t>24/02/2025</a:t>
            </a:fld>
            <a:endParaRPr lang="en-IE"/>
          </a:p>
        </p:txBody>
      </p:sp>
      <p:sp>
        <p:nvSpPr>
          <p:cNvPr id="5" name="Footer Placeholder 4"/>
          <p:cNvSpPr>
            <a:spLocks noGrp="1"/>
          </p:cNvSpPr>
          <p:nvPr>
            <p:ph type="ftr" sz="quarter" idx="11"/>
          </p:nvPr>
        </p:nvSpPr>
        <p:spPr/>
        <p:txBody>
          <a:bodyPr/>
          <a:lstStyle/>
          <a:p>
            <a:endParaRPr lang="en-I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2142701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96190AB-7EDE-4694-B66D-81330F289906}" type="datetimeFigureOut">
              <a:rPr lang="en-IE" smtClean="0"/>
              <a:t>24/02/2025</a:t>
            </a:fld>
            <a:endParaRPr lang="en-IE"/>
          </a:p>
        </p:txBody>
      </p:sp>
      <p:sp>
        <p:nvSpPr>
          <p:cNvPr id="5" name="Footer Placeholder 4"/>
          <p:cNvSpPr>
            <a:spLocks noGrp="1"/>
          </p:cNvSpPr>
          <p:nvPr>
            <p:ph type="ftr" sz="quarter" idx="11"/>
          </p:nvPr>
        </p:nvSpPr>
        <p:spPr/>
        <p:txBody>
          <a:bodyPr/>
          <a:lstStyle/>
          <a:p>
            <a:endParaRPr lang="en-IE"/>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646807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96190AB-7EDE-4694-B66D-81330F289906}" type="datetimeFigureOut">
              <a:rPr lang="en-IE" smtClean="0"/>
              <a:t>24/02/2025</a:t>
            </a:fld>
            <a:endParaRPr lang="en-IE"/>
          </a:p>
        </p:txBody>
      </p:sp>
      <p:sp>
        <p:nvSpPr>
          <p:cNvPr id="6" name="Footer Placeholder 5"/>
          <p:cNvSpPr>
            <a:spLocks noGrp="1"/>
          </p:cNvSpPr>
          <p:nvPr>
            <p:ph type="ftr" sz="quarter" idx="11"/>
          </p:nvPr>
        </p:nvSpPr>
        <p:spPr/>
        <p:txBody>
          <a:bodyPr/>
          <a:lstStyle/>
          <a:p>
            <a:endParaRPr lang="en-IE"/>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3123513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96190AB-7EDE-4694-B66D-81330F289906}" type="datetimeFigureOut">
              <a:rPr lang="en-IE" smtClean="0"/>
              <a:t>24/02/2025</a:t>
            </a:fld>
            <a:endParaRPr lang="en-IE"/>
          </a:p>
        </p:txBody>
      </p:sp>
      <p:sp>
        <p:nvSpPr>
          <p:cNvPr id="8" name="Footer Placeholder 7"/>
          <p:cNvSpPr>
            <a:spLocks noGrp="1"/>
          </p:cNvSpPr>
          <p:nvPr>
            <p:ph type="ftr" sz="quarter" idx="11"/>
          </p:nvPr>
        </p:nvSpPr>
        <p:spPr/>
        <p:txBody>
          <a:bodyPr/>
          <a:lstStyle/>
          <a:p>
            <a:endParaRPr lang="en-IE"/>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4259859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96190AB-7EDE-4694-B66D-81330F289906}" type="datetimeFigureOut">
              <a:rPr lang="en-IE" smtClean="0"/>
              <a:t>24/02/2025</a:t>
            </a:fld>
            <a:endParaRPr lang="en-IE"/>
          </a:p>
        </p:txBody>
      </p:sp>
      <p:sp>
        <p:nvSpPr>
          <p:cNvPr id="4" name="Footer Placeholder 3"/>
          <p:cNvSpPr>
            <a:spLocks noGrp="1"/>
          </p:cNvSpPr>
          <p:nvPr>
            <p:ph type="ftr" sz="quarter" idx="11"/>
          </p:nvPr>
        </p:nvSpPr>
        <p:spPr/>
        <p:txBody>
          <a:bodyPr/>
          <a:lstStyle/>
          <a:p>
            <a:endParaRPr lang="en-IE"/>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2329426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6190AB-7EDE-4694-B66D-81330F289906}" type="datetimeFigureOut">
              <a:rPr lang="en-IE" smtClean="0"/>
              <a:t>24/02/2025</a:t>
            </a:fld>
            <a:endParaRPr lang="en-IE"/>
          </a:p>
        </p:txBody>
      </p:sp>
      <p:sp>
        <p:nvSpPr>
          <p:cNvPr id="3" name="Footer Placeholder 2"/>
          <p:cNvSpPr>
            <a:spLocks noGrp="1"/>
          </p:cNvSpPr>
          <p:nvPr>
            <p:ph type="ftr" sz="quarter" idx="11"/>
          </p:nvPr>
        </p:nvSpPr>
        <p:spPr/>
        <p:txBody>
          <a:bodyPr/>
          <a:lstStyle/>
          <a:p>
            <a:endParaRPr lang="en-IE"/>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1129502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6190AB-7EDE-4694-B66D-81330F289906}" type="datetimeFigureOut">
              <a:rPr lang="en-IE" smtClean="0"/>
              <a:t>24/02/2025</a:t>
            </a:fld>
            <a:endParaRPr lang="en-IE"/>
          </a:p>
        </p:txBody>
      </p:sp>
      <p:sp>
        <p:nvSpPr>
          <p:cNvPr id="6" name="Footer Placeholder 5"/>
          <p:cNvSpPr>
            <a:spLocks noGrp="1"/>
          </p:cNvSpPr>
          <p:nvPr>
            <p:ph type="ftr" sz="quarter" idx="11"/>
          </p:nvPr>
        </p:nvSpPr>
        <p:spPr/>
        <p:txBody>
          <a:bodyPr/>
          <a:lstStyle/>
          <a:p>
            <a:endParaRPr lang="en-IE"/>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617323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6190AB-7EDE-4694-B66D-81330F289906}" type="datetimeFigureOut">
              <a:rPr lang="en-IE" smtClean="0"/>
              <a:t>24/02/2025</a:t>
            </a:fld>
            <a:endParaRPr lang="en-IE"/>
          </a:p>
        </p:txBody>
      </p:sp>
      <p:sp>
        <p:nvSpPr>
          <p:cNvPr id="6" name="Footer Placeholder 5"/>
          <p:cNvSpPr>
            <a:spLocks noGrp="1"/>
          </p:cNvSpPr>
          <p:nvPr>
            <p:ph type="ftr" sz="quarter" idx="11"/>
          </p:nvPr>
        </p:nvSpPr>
        <p:spPr/>
        <p:txBody>
          <a:bodyPr/>
          <a:lstStyle/>
          <a:p>
            <a:endParaRPr lang="en-I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1825453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96190AB-7EDE-4694-B66D-81330F289906}" type="datetimeFigureOut">
              <a:rPr lang="en-IE" smtClean="0"/>
              <a:t>24/02/2025</a:t>
            </a:fld>
            <a:endParaRPr lang="en-IE"/>
          </a:p>
        </p:txBody>
      </p:sp>
      <p:sp>
        <p:nvSpPr>
          <p:cNvPr id="5" name="Footer Placeholder 4"/>
          <p:cNvSpPr>
            <a:spLocks noGrp="1"/>
          </p:cNvSpPr>
          <p:nvPr>
            <p:ph type="ftr" sz="quarter" idx="11"/>
          </p:nvPr>
        </p:nvSpPr>
        <p:spPr/>
        <p:txBody>
          <a:bodyPr/>
          <a:lstStyle/>
          <a:p>
            <a:endParaRPr lang="en-IE"/>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111346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96190AB-7EDE-4694-B66D-81330F289906}" type="datetimeFigureOut">
              <a:rPr lang="en-IE" smtClean="0"/>
              <a:t>24/02/2025</a:t>
            </a:fld>
            <a:endParaRPr lang="en-IE"/>
          </a:p>
        </p:txBody>
      </p:sp>
      <p:sp>
        <p:nvSpPr>
          <p:cNvPr id="5" name="Footer Placeholder 4"/>
          <p:cNvSpPr>
            <a:spLocks noGrp="1"/>
          </p:cNvSpPr>
          <p:nvPr>
            <p:ph type="ftr" sz="quarter" idx="11"/>
          </p:nvPr>
        </p:nvSpPr>
        <p:spPr/>
        <p:txBody>
          <a:bodyPr/>
          <a:lstStyle/>
          <a:p>
            <a:endParaRPr lang="en-IE"/>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E977F8B-9A77-42E2-BD1F-83F88BA30583}" type="slidenum">
              <a:rPr lang="en-IE" smtClean="0"/>
              <a:t>‹#›</a:t>
            </a:fld>
            <a:endParaRPr lang="en-IE"/>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044671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196190AB-7EDE-4694-B66D-81330F289906}" type="datetimeFigureOut">
              <a:rPr lang="en-IE" smtClean="0"/>
              <a:t>24/02/2025</a:t>
            </a:fld>
            <a:endParaRPr lang="en-IE"/>
          </a:p>
        </p:txBody>
      </p:sp>
      <p:sp>
        <p:nvSpPr>
          <p:cNvPr id="6" name="Footer Placeholder 5"/>
          <p:cNvSpPr>
            <a:spLocks noGrp="1"/>
          </p:cNvSpPr>
          <p:nvPr>
            <p:ph type="ftr" sz="quarter" idx="11"/>
          </p:nvPr>
        </p:nvSpPr>
        <p:spPr/>
        <p:txBody>
          <a:bodyPr/>
          <a:lstStyle/>
          <a:p>
            <a:endParaRPr lang="en-I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1845904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196190AB-7EDE-4694-B66D-81330F289906}" type="datetimeFigureOut">
              <a:rPr lang="en-IE" smtClean="0"/>
              <a:t>24/02/2025</a:t>
            </a:fld>
            <a:endParaRPr lang="en-IE"/>
          </a:p>
        </p:txBody>
      </p:sp>
      <p:sp>
        <p:nvSpPr>
          <p:cNvPr id="6" name="Footer Placeholder 5"/>
          <p:cNvSpPr>
            <a:spLocks noGrp="1"/>
          </p:cNvSpPr>
          <p:nvPr>
            <p:ph type="ftr" sz="quarter" idx="11"/>
          </p:nvPr>
        </p:nvSpPr>
        <p:spPr/>
        <p:txBody>
          <a:bodyPr/>
          <a:lstStyle/>
          <a:p>
            <a:endParaRPr lang="en-IE"/>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E977F8B-9A77-42E2-BD1F-83F88BA30583}" type="slidenum">
              <a:rPr lang="en-IE" smtClean="0"/>
              <a:t>‹#›</a:t>
            </a:fld>
            <a:endParaRPr lang="en-IE"/>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842770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196190AB-7EDE-4694-B66D-81330F289906}" type="datetimeFigureOut">
              <a:rPr lang="en-IE" smtClean="0"/>
              <a:t>24/02/2025</a:t>
            </a:fld>
            <a:endParaRPr lang="en-IE"/>
          </a:p>
        </p:txBody>
      </p:sp>
      <p:sp>
        <p:nvSpPr>
          <p:cNvPr id="6" name="Footer Placeholder 5"/>
          <p:cNvSpPr>
            <a:spLocks noGrp="1"/>
          </p:cNvSpPr>
          <p:nvPr>
            <p:ph type="ftr" sz="quarter" idx="11"/>
          </p:nvPr>
        </p:nvSpPr>
        <p:spPr/>
        <p:txBody>
          <a:bodyPr/>
          <a:lstStyle/>
          <a:p>
            <a:endParaRPr lang="en-I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21784793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6190AB-7EDE-4694-B66D-81330F289906}" type="datetimeFigureOut">
              <a:rPr lang="en-IE" smtClean="0"/>
              <a:t>24/02/2025</a:t>
            </a:fld>
            <a:endParaRPr lang="en-IE"/>
          </a:p>
        </p:txBody>
      </p:sp>
      <p:sp>
        <p:nvSpPr>
          <p:cNvPr id="5" name="Footer Placeholder 4"/>
          <p:cNvSpPr>
            <a:spLocks noGrp="1"/>
          </p:cNvSpPr>
          <p:nvPr>
            <p:ph type="ftr" sz="quarter" idx="11"/>
          </p:nvPr>
        </p:nvSpPr>
        <p:spPr/>
        <p:txBody>
          <a:bodyPr/>
          <a:lstStyle/>
          <a:p>
            <a:endParaRPr lang="en-I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8368932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6190AB-7EDE-4694-B66D-81330F289906}" type="datetimeFigureOut">
              <a:rPr lang="en-IE" smtClean="0"/>
              <a:t>24/02/2025</a:t>
            </a:fld>
            <a:endParaRPr lang="en-IE"/>
          </a:p>
        </p:txBody>
      </p:sp>
      <p:sp>
        <p:nvSpPr>
          <p:cNvPr id="5" name="Footer Placeholder 4"/>
          <p:cNvSpPr>
            <a:spLocks noGrp="1"/>
          </p:cNvSpPr>
          <p:nvPr>
            <p:ph type="ftr" sz="quarter" idx="11"/>
          </p:nvPr>
        </p:nvSpPr>
        <p:spPr/>
        <p:txBody>
          <a:bodyPr/>
          <a:lstStyle/>
          <a:p>
            <a:endParaRPr lang="en-I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E977F8B-9A77-42E2-BD1F-83F88BA30583}" type="slidenum">
              <a:rPr lang="en-IE" smtClean="0"/>
              <a:t>‹#›</a:t>
            </a:fld>
            <a:endParaRPr lang="en-IE"/>
          </a:p>
        </p:txBody>
      </p:sp>
    </p:spTree>
    <p:extLst>
      <p:ext uri="{BB962C8B-B14F-4D97-AF65-F5344CB8AC3E}">
        <p14:creationId xmlns:p14="http://schemas.microsoft.com/office/powerpoint/2010/main" val="1780439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96190AB-7EDE-4694-B66D-81330F289906}" type="datetimeFigureOut">
              <a:rPr lang="en-IE" smtClean="0"/>
              <a:t>24/02/2025</a:t>
            </a:fld>
            <a:endParaRPr lang="en-IE"/>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E"/>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E977F8B-9A77-42E2-BD1F-83F88BA30583}" type="slidenum">
              <a:rPr lang="en-IE" smtClean="0"/>
              <a:t>‹#›</a:t>
            </a:fld>
            <a:endParaRPr lang="en-IE"/>
          </a:p>
        </p:txBody>
      </p:sp>
    </p:spTree>
    <p:extLst>
      <p:ext uri="{BB962C8B-B14F-4D97-AF65-F5344CB8AC3E}">
        <p14:creationId xmlns:p14="http://schemas.microsoft.com/office/powerpoint/2010/main" val="30063036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946FCD-E869-0ED1-B474-CB9529E62BD7}"/>
              </a:ext>
            </a:extLst>
          </p:cNvPr>
          <p:cNvSpPr>
            <a:spLocks noGrp="1"/>
          </p:cNvSpPr>
          <p:nvPr>
            <p:ph type="ctrTitle"/>
          </p:nvPr>
        </p:nvSpPr>
        <p:spPr>
          <a:xfrm>
            <a:off x="945141" y="1664855"/>
            <a:ext cx="10812751" cy="2262781"/>
          </a:xfrm>
        </p:spPr>
        <p:txBody>
          <a:bodyPr>
            <a:normAutofit/>
          </a:bodyPr>
          <a:lstStyle/>
          <a:p>
            <a:pPr algn="ctr"/>
            <a:r>
              <a:rPr lang="en-IE" sz="3600" dirty="0" smtClean="0">
                <a:ln w="0"/>
                <a:solidFill>
                  <a:schemeClr val="accent1"/>
                </a:solidFill>
                <a:effectLst>
                  <a:outerShdw blurRad="38100" dist="25400" dir="5400000" algn="ctr" rotWithShape="0">
                    <a:srgbClr val="6E747A">
                      <a:alpha val="43000"/>
                    </a:srgbClr>
                  </a:outerShdw>
                </a:effectLst>
              </a:rPr>
              <a:t>COMPARISON BETWEEN POPULATION GROWTH AND COMMUTE DISTANCE</a:t>
            </a:r>
            <a:endParaRPr lang="en-IE" sz="3600" dirty="0">
              <a:ln w="0"/>
              <a:solidFill>
                <a:schemeClr val="accent1"/>
              </a:solidFill>
              <a:effectLst>
                <a:outerShdw blurRad="38100" dist="25400" dir="5400000" algn="ctr" rotWithShape="0">
                  <a:srgbClr val="6E747A">
                    <a:alpha val="43000"/>
                  </a:srgbClr>
                </a:outerShdw>
              </a:effectLst>
            </a:endParaRPr>
          </a:p>
        </p:txBody>
      </p:sp>
      <p:sp>
        <p:nvSpPr>
          <p:cNvPr id="4" name="TextBox 3"/>
          <p:cNvSpPr txBox="1"/>
          <p:nvPr/>
        </p:nvSpPr>
        <p:spPr>
          <a:xfrm>
            <a:off x="2201958" y="5104307"/>
            <a:ext cx="4470400" cy="1200329"/>
          </a:xfrm>
          <a:prstGeom prst="rect">
            <a:avLst/>
          </a:prstGeom>
          <a:noFill/>
        </p:spPr>
        <p:txBody>
          <a:bodyPr wrap="square" rtlCol="0">
            <a:spAutoFit/>
          </a:bodyPr>
          <a:lstStyle/>
          <a:p>
            <a:r>
              <a:rPr lang="en-IN" dirty="0" smtClean="0"/>
              <a:t>STUDENT ID of Member 1 – 24241163</a:t>
            </a:r>
          </a:p>
          <a:p>
            <a:r>
              <a:rPr lang="en-IN" dirty="0"/>
              <a:t>STUDENT ID of Member </a:t>
            </a:r>
            <a:r>
              <a:rPr lang="en-IN" dirty="0" smtClean="0"/>
              <a:t>2 – 20390573</a:t>
            </a:r>
            <a:endParaRPr lang="en-IN" dirty="0"/>
          </a:p>
          <a:p>
            <a:endParaRPr lang="en-IN" dirty="0" smtClean="0"/>
          </a:p>
          <a:p>
            <a:endParaRPr lang="en-IN" dirty="0"/>
          </a:p>
        </p:txBody>
      </p:sp>
    </p:spTree>
    <p:extLst>
      <p:ext uri="{BB962C8B-B14F-4D97-AF65-F5344CB8AC3E}">
        <p14:creationId xmlns:p14="http://schemas.microsoft.com/office/powerpoint/2010/main" val="22655023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1345" y="1168689"/>
            <a:ext cx="10515600" cy="2692111"/>
          </a:xfrm>
        </p:spPr>
        <p:txBody>
          <a:bodyPr>
            <a:noAutofit/>
          </a:bodyPr>
          <a:lstStyle/>
          <a:p>
            <a:r>
              <a:rPr lang="en-IN" sz="1200" b="1" dirty="0"/>
              <a:t>Data collection process:</a:t>
            </a:r>
            <a:r>
              <a:rPr lang="en-IN" sz="1200" dirty="0"/>
              <a:t/>
            </a:r>
            <a:br>
              <a:rPr lang="en-IN" sz="1200" dirty="0"/>
            </a:br>
            <a:r>
              <a:rPr lang="en-IN" sz="1200" dirty="0"/>
              <a:t>The data was collected by using the API key generated from Google Distance Matrix API. This collected data includes commute distance and time data from biggest towns in each county to Dublin </a:t>
            </a:r>
            <a:r>
              <a:rPr lang="en-IN" sz="1200" dirty="0" smtClean="0"/>
              <a:t>city</a:t>
            </a:r>
            <a:br>
              <a:rPr lang="en-IN" sz="1200" dirty="0" smtClean="0"/>
            </a:br>
            <a:r>
              <a:rPr lang="en-IN" sz="1200" dirty="0"/>
              <a:t/>
            </a:r>
            <a:br>
              <a:rPr lang="en-IN" sz="1200" dirty="0"/>
            </a:br>
            <a:r>
              <a:rPr lang="en-IN" sz="1200" b="1" dirty="0"/>
              <a:t>API key generation and </a:t>
            </a:r>
            <a:r>
              <a:rPr lang="en-IN" sz="1200" b="1" dirty="0" smtClean="0"/>
              <a:t>configuration</a:t>
            </a:r>
            <a:r>
              <a:rPr lang="en-IN" sz="1200" dirty="0" smtClean="0"/>
              <a:t/>
            </a:r>
            <a:br>
              <a:rPr lang="en-IN" sz="1200" dirty="0" smtClean="0"/>
            </a:br>
            <a:r>
              <a:rPr lang="en-IN" sz="1200" dirty="0"/>
              <a:t/>
            </a:r>
            <a:br>
              <a:rPr lang="en-IN" sz="1200" dirty="0"/>
            </a:br>
            <a:r>
              <a:rPr lang="en-IN" sz="1200" b="1" dirty="0"/>
              <a:t>Google Maps API and data Retrieval </a:t>
            </a:r>
            <a:r>
              <a:rPr lang="en-IN" sz="1200" b="1" dirty="0" smtClean="0"/>
              <a:t>Process</a:t>
            </a:r>
            <a:r>
              <a:rPr lang="en-IN" sz="1200" dirty="0" smtClean="0"/>
              <a:t/>
            </a:r>
            <a:br>
              <a:rPr lang="en-IN" sz="1200" dirty="0" smtClean="0"/>
            </a:br>
            <a:r>
              <a:rPr lang="en-IN" sz="1200" dirty="0"/>
              <a:t/>
            </a:r>
            <a:br>
              <a:rPr lang="en-IN" sz="1200" dirty="0"/>
            </a:br>
            <a:r>
              <a:rPr lang="en-IN" sz="1200" b="1" dirty="0"/>
              <a:t>Query </a:t>
            </a:r>
            <a:r>
              <a:rPr lang="en-IN" sz="1200" b="1" dirty="0" smtClean="0"/>
              <a:t>Timestamps</a:t>
            </a:r>
            <a:br>
              <a:rPr lang="en-IN" sz="1200" b="1" dirty="0" smtClean="0"/>
            </a:br>
            <a:r>
              <a:rPr lang="en-IN" sz="1200" b="1" dirty="0"/>
              <a:t/>
            </a:r>
            <a:br>
              <a:rPr lang="en-IN" sz="1200" b="1" dirty="0"/>
            </a:br>
            <a:r>
              <a:rPr lang="en-IN" sz="1200" b="1" dirty="0" smtClean="0"/>
              <a:t>Methodology</a:t>
            </a:r>
            <a:br>
              <a:rPr lang="en-IN" sz="1200" b="1" dirty="0" smtClean="0"/>
            </a:br>
            <a:r>
              <a:rPr lang="en-IN" sz="1200" b="1" dirty="0"/>
              <a:t/>
            </a:r>
            <a:br>
              <a:rPr lang="en-IN" sz="1200" b="1" dirty="0"/>
            </a:br>
            <a:r>
              <a:rPr lang="en-IN" sz="1200" b="1" dirty="0" smtClean="0"/>
              <a:t>Consistency </a:t>
            </a:r>
            <a:r>
              <a:rPr lang="en-IN" sz="1200" b="1" dirty="0"/>
              <a:t>and </a:t>
            </a:r>
            <a:r>
              <a:rPr lang="en-IN" sz="1200" b="1" dirty="0" smtClean="0"/>
              <a:t>Accuracy</a:t>
            </a:r>
            <a:endParaRPr lang="en-IN" sz="1200" dirty="0"/>
          </a:p>
        </p:txBody>
      </p:sp>
      <p:sp>
        <p:nvSpPr>
          <p:cNvPr id="4" name="TextBox 3"/>
          <p:cNvSpPr txBox="1"/>
          <p:nvPr/>
        </p:nvSpPr>
        <p:spPr>
          <a:xfrm>
            <a:off x="951345" y="3943927"/>
            <a:ext cx="4479637" cy="2585323"/>
          </a:xfrm>
          <a:prstGeom prst="rect">
            <a:avLst/>
          </a:prstGeom>
          <a:noFill/>
        </p:spPr>
        <p:txBody>
          <a:bodyPr wrap="square" rtlCol="0">
            <a:spAutoFit/>
          </a:bodyPr>
          <a:lstStyle/>
          <a:p>
            <a:r>
              <a:rPr lang="en-IN" b="1" dirty="0"/>
              <a:t>Methodology:</a:t>
            </a:r>
            <a:r>
              <a:rPr lang="en-IN" dirty="0"/>
              <a:t>- Builds a query using the Google Distance Matrix API that has been collected. This API will return the Distance in meters and duration to commute in seconds. This data is formatted to display as Hours and Kilometres.</a:t>
            </a:r>
          </a:p>
        </p:txBody>
      </p:sp>
      <p:sp>
        <p:nvSpPr>
          <p:cNvPr id="5" name="TextBox 4"/>
          <p:cNvSpPr txBox="1"/>
          <p:nvPr/>
        </p:nvSpPr>
        <p:spPr>
          <a:xfrm>
            <a:off x="6410036" y="3943927"/>
            <a:ext cx="4581237" cy="1200329"/>
          </a:xfrm>
          <a:prstGeom prst="rect">
            <a:avLst/>
          </a:prstGeom>
          <a:noFill/>
        </p:spPr>
        <p:txBody>
          <a:bodyPr wrap="square" rtlCol="0">
            <a:spAutoFit/>
          </a:bodyPr>
          <a:lstStyle/>
          <a:p>
            <a:r>
              <a:rPr lang="en-IN" b="1" dirty="0"/>
              <a:t>Consistency and Accuracy:- </a:t>
            </a:r>
            <a:r>
              <a:rPr lang="en-IN" dirty="0"/>
              <a:t>Pre-determined data slots have been used here(9AM in the morning , 7PM in the evening) </a:t>
            </a:r>
          </a:p>
        </p:txBody>
      </p:sp>
    </p:spTree>
    <p:extLst>
      <p:ext uri="{BB962C8B-B14F-4D97-AF65-F5344CB8AC3E}">
        <p14:creationId xmlns:p14="http://schemas.microsoft.com/office/powerpoint/2010/main" val="26389621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74785" y="986552"/>
            <a:ext cx="9091448" cy="5494496"/>
          </a:xfrm>
          <a:prstGeom prst="rect">
            <a:avLst/>
          </a:prstGeom>
        </p:spPr>
      </p:pic>
      <p:sp>
        <p:nvSpPr>
          <p:cNvPr id="5" name="TextBox 4"/>
          <p:cNvSpPr txBox="1"/>
          <p:nvPr/>
        </p:nvSpPr>
        <p:spPr>
          <a:xfrm>
            <a:off x="581890" y="295564"/>
            <a:ext cx="5708073" cy="369332"/>
          </a:xfrm>
          <a:prstGeom prst="rect">
            <a:avLst/>
          </a:prstGeom>
          <a:noFill/>
        </p:spPr>
        <p:txBody>
          <a:bodyPr wrap="square" rtlCol="0">
            <a:spAutoFit/>
          </a:bodyPr>
          <a:lstStyle/>
          <a:p>
            <a:r>
              <a:rPr lang="en-IN" b="1" dirty="0" smtClean="0"/>
              <a:t>The csv file generated consists:</a:t>
            </a:r>
            <a:endParaRPr lang="en-IN" b="1" dirty="0"/>
          </a:p>
        </p:txBody>
      </p:sp>
    </p:spTree>
    <p:extLst>
      <p:ext uri="{BB962C8B-B14F-4D97-AF65-F5344CB8AC3E}">
        <p14:creationId xmlns:p14="http://schemas.microsoft.com/office/powerpoint/2010/main" val="27696666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46036" y="406400"/>
            <a:ext cx="7777019" cy="523220"/>
          </a:xfrm>
          <a:prstGeom prst="rect">
            <a:avLst/>
          </a:prstGeom>
          <a:noFill/>
        </p:spPr>
        <p:txBody>
          <a:bodyPr wrap="square" rtlCol="0">
            <a:spAutoFit/>
          </a:bodyPr>
          <a:lstStyle/>
          <a:p>
            <a:r>
              <a:rPr lang="en-IN" sz="2800" dirty="0" smtClean="0"/>
              <a:t>Exploratory Graphs:</a:t>
            </a:r>
            <a:endParaRPr lang="en-IN" sz="2800" dirty="0"/>
          </a:p>
        </p:txBody>
      </p:sp>
      <p:pic>
        <p:nvPicPr>
          <p:cNvPr id="8" name="Picture 7"/>
          <p:cNvPicPr>
            <a:picLocks noChangeAspect="1"/>
          </p:cNvPicPr>
          <p:nvPr/>
        </p:nvPicPr>
        <p:blipFill>
          <a:blip r:embed="rId2"/>
          <a:stretch>
            <a:fillRect/>
          </a:stretch>
        </p:blipFill>
        <p:spPr>
          <a:xfrm>
            <a:off x="306578" y="1838035"/>
            <a:ext cx="5258256" cy="3703641"/>
          </a:xfrm>
          <a:prstGeom prst="rect">
            <a:avLst/>
          </a:prstGeom>
        </p:spPr>
      </p:pic>
      <p:pic>
        <p:nvPicPr>
          <p:cNvPr id="9" name="Picture 8"/>
          <p:cNvPicPr>
            <a:picLocks noChangeAspect="1"/>
          </p:cNvPicPr>
          <p:nvPr/>
        </p:nvPicPr>
        <p:blipFill>
          <a:blip r:embed="rId3"/>
          <a:stretch>
            <a:fillRect/>
          </a:stretch>
        </p:blipFill>
        <p:spPr>
          <a:xfrm>
            <a:off x="5735319" y="2073150"/>
            <a:ext cx="5976649" cy="3233410"/>
          </a:xfrm>
          <a:prstGeom prst="rect">
            <a:avLst/>
          </a:prstGeom>
        </p:spPr>
      </p:pic>
    </p:spTree>
    <p:extLst>
      <p:ext uri="{BB962C8B-B14F-4D97-AF65-F5344CB8AC3E}">
        <p14:creationId xmlns:p14="http://schemas.microsoft.com/office/powerpoint/2010/main" val="7528713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xmlns="" id="{2C9A9DA9-7DC8-488B-A882-123947B0F3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6" name="Rectangle 65">
            <a:extLst>
              <a:ext uri="{FF2B5EF4-FFF2-40B4-BE49-F238E27FC236}">
                <a16:creationId xmlns:a16="http://schemas.microsoft.com/office/drawing/2014/main" xmlns="" id="{57F6BDD4-E066-4008-8011-6CC31AEB455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09575" y="633619"/>
            <a:ext cx="427938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7FC841C1-0FC7-A800-433E-E8BF2792DE47}"/>
              </a:ext>
            </a:extLst>
          </p:cNvPr>
          <p:cNvSpPr>
            <a:spLocks noGrp="1"/>
          </p:cNvSpPr>
          <p:nvPr>
            <p:ph type="title"/>
          </p:nvPr>
        </p:nvSpPr>
        <p:spPr>
          <a:xfrm>
            <a:off x="841246" y="978619"/>
            <a:ext cx="3536789" cy="1106424"/>
          </a:xfrm>
        </p:spPr>
        <p:txBody>
          <a:bodyPr vert="horz" lIns="91440" tIns="45720" rIns="91440" bIns="45720" rtlCol="0" anchor="ctr">
            <a:normAutofit/>
          </a:bodyPr>
          <a:lstStyle/>
          <a:p>
            <a:r>
              <a:rPr lang="en-US" sz="2800" kern="1200" dirty="0" smtClean="0">
                <a:solidFill>
                  <a:schemeClr val="tx1"/>
                </a:solidFill>
                <a:latin typeface="+mj-lt"/>
                <a:ea typeface="+mj-ea"/>
                <a:cs typeface="+mj-cs"/>
              </a:rPr>
              <a:t>Explanatory </a:t>
            </a:r>
            <a:r>
              <a:rPr lang="en-US" sz="2800" kern="1200" dirty="0">
                <a:solidFill>
                  <a:schemeClr val="tx1"/>
                </a:solidFill>
                <a:latin typeface="+mj-lt"/>
                <a:ea typeface="+mj-ea"/>
                <a:cs typeface="+mj-cs"/>
              </a:rPr>
              <a:t>Graph</a:t>
            </a:r>
          </a:p>
        </p:txBody>
      </p:sp>
      <p:sp>
        <p:nvSpPr>
          <p:cNvPr id="3" name="Content Placeholder 2">
            <a:extLst>
              <a:ext uri="{FF2B5EF4-FFF2-40B4-BE49-F238E27FC236}">
                <a16:creationId xmlns:a16="http://schemas.microsoft.com/office/drawing/2014/main" xmlns="" id="{95CBC541-894B-7D46-B420-97AF6EEF2B55}"/>
              </a:ext>
            </a:extLst>
          </p:cNvPr>
          <p:cNvSpPr>
            <a:spLocks noGrp="1"/>
          </p:cNvSpPr>
          <p:nvPr>
            <p:ph sz="half" idx="1"/>
          </p:nvPr>
        </p:nvSpPr>
        <p:spPr>
          <a:xfrm>
            <a:off x="841248" y="2252870"/>
            <a:ext cx="3412219" cy="3723387"/>
          </a:xfrm>
        </p:spPr>
        <p:txBody>
          <a:bodyPr vert="horz" lIns="91440" tIns="45720" rIns="91440" bIns="45720" rtlCol="0">
            <a:normAutofit lnSpcReduction="10000"/>
          </a:bodyPr>
          <a:lstStyle/>
          <a:p>
            <a:r>
              <a:rPr lang="en-US" sz="1200" dirty="0"/>
              <a:t>The main exploratory </a:t>
            </a:r>
            <a:r>
              <a:rPr lang="en-US" sz="1200" dirty="0" err="1"/>
              <a:t>visualisation</a:t>
            </a:r>
            <a:r>
              <a:rPr lang="en-US" sz="1200" dirty="0"/>
              <a:t> produced after data collection and exploration is shown on the right. </a:t>
            </a:r>
          </a:p>
          <a:p>
            <a:r>
              <a:rPr lang="en-US" sz="1200" dirty="0"/>
              <a:t>The graph supports our hypothesis that town closer to Counties closer to Dublin had a higher increase in population growth from 2006 to 2016. </a:t>
            </a:r>
          </a:p>
          <a:p>
            <a:r>
              <a:rPr lang="en-US" sz="1200" dirty="0"/>
              <a:t>The graph shows this using a </a:t>
            </a:r>
            <a:r>
              <a:rPr lang="en-US" sz="1200" dirty="0" err="1"/>
              <a:t>colour</a:t>
            </a:r>
            <a:r>
              <a:rPr lang="en-US" sz="1200" dirty="0"/>
              <a:t> scale to represent population growth, Distance to Dublin on the x-axis and commute time on the y-axis.</a:t>
            </a:r>
          </a:p>
          <a:p>
            <a:r>
              <a:rPr lang="en-US" sz="1200" dirty="0"/>
              <a:t>It should be noted that 2 counties are outliers in terms of population growth and distance from Dublin. These are Cork and Galway and are labelled on the graph. This makes sense as the 2 counties contain large urban centers, so the authors of this graph believe our hypothesis still holds value. </a:t>
            </a:r>
          </a:p>
        </p:txBody>
      </p:sp>
      <p:sp>
        <p:nvSpPr>
          <p:cNvPr id="68" name="Rectangle 67">
            <a:extLst>
              <a:ext uri="{FF2B5EF4-FFF2-40B4-BE49-F238E27FC236}">
                <a16:creationId xmlns:a16="http://schemas.microsoft.com/office/drawing/2014/main" xmlns="" id="{2711A8FB-68FC-45FC-B01E-38F809E2D4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0" name="Rectangle 69">
            <a:extLst>
              <a:ext uri="{FF2B5EF4-FFF2-40B4-BE49-F238E27FC236}">
                <a16:creationId xmlns:a16="http://schemas.microsoft.com/office/drawing/2014/main" xmlns="" id="{2A865FE3-5FC9-4049-87CF-30019C46C0F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Content Placeholder 4"/>
          <p:cNvPicPr>
            <a:picLocks noGrp="1" noChangeAspect="1"/>
          </p:cNvPicPr>
          <p:nvPr>
            <p:ph sz="half" idx="2"/>
          </p:nvPr>
        </p:nvPicPr>
        <p:blipFill>
          <a:blip r:embed="rId2"/>
          <a:stretch>
            <a:fillRect/>
          </a:stretch>
        </p:blipFill>
        <p:spPr>
          <a:xfrm>
            <a:off x="5056621" y="1287389"/>
            <a:ext cx="6558610" cy="4391516"/>
          </a:xfrm>
          <a:prstGeom prst="rect">
            <a:avLst/>
          </a:prstGeom>
        </p:spPr>
      </p:pic>
    </p:spTree>
    <p:extLst>
      <p:ext uri="{BB962C8B-B14F-4D97-AF65-F5344CB8AC3E}">
        <p14:creationId xmlns:p14="http://schemas.microsoft.com/office/powerpoint/2010/main" val="327264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BACC6370-2D7E-4714-9D71-7542949D7D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256B2C21-A230-48C0-8DF1-C46611373C4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3847E18C-932D-4C95-AABA-FEC7C9499AD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xmlns="" id="{3150CB11-0C61-439E-910F-5787759E72A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xmlns="" id="{43F8A58B-5155-44CE-A5FF-7647B47D0A7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xmlns="" id="{443F2ACA-E6D6-4028-82DD-F03C262D5DE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xmlns="" id="{B5976559-E6F0-F30D-8020-BC132C1C812B}"/>
              </a:ext>
            </a:extLst>
          </p:cNvPr>
          <p:cNvSpPr>
            <a:spLocks noGrp="1"/>
          </p:cNvSpPr>
          <p:nvPr>
            <p:ph type="title"/>
          </p:nvPr>
        </p:nvSpPr>
        <p:spPr>
          <a:xfrm>
            <a:off x="586478" y="1683756"/>
            <a:ext cx="3115265" cy="2396359"/>
          </a:xfrm>
        </p:spPr>
        <p:txBody>
          <a:bodyPr anchor="b">
            <a:normAutofit/>
          </a:bodyPr>
          <a:lstStyle/>
          <a:p>
            <a:pPr algn="r"/>
            <a:r>
              <a:rPr lang="en-GB" sz="4000">
                <a:solidFill>
                  <a:srgbClr val="FFFFFF"/>
                </a:solidFill>
              </a:rPr>
              <a:t>Further Thoughts.</a:t>
            </a:r>
            <a:endParaRPr lang="en-IE" sz="4000">
              <a:solidFill>
                <a:srgbClr val="FFFFFF"/>
              </a:solidFill>
            </a:endParaRPr>
          </a:p>
        </p:txBody>
      </p:sp>
      <p:graphicFrame>
        <p:nvGraphicFramePr>
          <p:cNvPr id="8" name="Content Placeholder 5">
            <a:extLst>
              <a:ext uri="{FF2B5EF4-FFF2-40B4-BE49-F238E27FC236}">
                <a16:creationId xmlns:a16="http://schemas.microsoft.com/office/drawing/2014/main" xmlns="" id="{EBB3C62D-541F-6577-40F5-9FE7E028953C}"/>
              </a:ext>
            </a:extLst>
          </p:cNvPr>
          <p:cNvGraphicFramePr>
            <a:graphicFrameLocks noGrp="1"/>
          </p:cNvGraphicFramePr>
          <p:nvPr>
            <p:ph idx="1"/>
            <p:extLst>
              <p:ext uri="{D42A27DB-BD31-4B8C-83A1-F6EECF244321}">
                <p14:modId xmlns:p14="http://schemas.microsoft.com/office/powerpoint/2010/main" val="382637300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786215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1414</TotalTime>
  <Words>296</Words>
  <Application>Microsoft Office PowerPoint</Application>
  <PresentationFormat>Widescreen</PresentationFormat>
  <Paragraphs>18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Century Gothic</vt:lpstr>
      <vt:lpstr>Wingdings 3</vt:lpstr>
      <vt:lpstr>Wisp</vt:lpstr>
      <vt:lpstr>COMPARISON BETWEEN POPULATION GROWTH AND COMMUTE DISTANCE</vt:lpstr>
      <vt:lpstr>Data collection process: The data was collected by using the API key generated from Google Distance Matrix API. This collected data includes commute distance and time data from biggest towns in each county to Dublin city  API key generation and configuration  Google Maps API and data Retrieval Process  Query Timestamps  Methodology  Consistency and Accuracy</vt:lpstr>
      <vt:lpstr>PowerPoint Presentation</vt:lpstr>
      <vt:lpstr>PowerPoint Presentation</vt:lpstr>
      <vt:lpstr>Explanatory Graph</vt:lpstr>
      <vt:lpstr>Further Thoughts.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DANIELS, ADAM</dc:creator>
  <cp:lastModifiedBy>Microsoft account</cp:lastModifiedBy>
  <cp:revision>12</cp:revision>
  <dcterms:created xsi:type="dcterms:W3CDTF">2025-02-24T15:36:31Z</dcterms:created>
  <dcterms:modified xsi:type="dcterms:W3CDTF">2025-02-25T15:48:17Z</dcterms:modified>
</cp:coreProperties>
</file>